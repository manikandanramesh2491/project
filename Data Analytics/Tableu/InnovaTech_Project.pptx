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  <Relationship Id='rId18' Target='slides/slide13.xml' Type='http://schemas.openxmlformats.org/officeDocument/2006/relationships/slide' />
  <Relationship Id='rId19' Target='slides/slide14.xml' Type='http://schemas.openxmlformats.org/officeDocument/2006/relationships/slide' />
  <Relationship Id='rId20' Target='slides/slide15.xml' Type='http://schemas.openxmlformats.org/officeDocument/2006/relationships/slide' />
  <Relationship Id='rId21' Target='slides/slide16.xml' Type='http://schemas.openxmlformats.org/officeDocument/2006/relationships/slide' />
  <Relationship Id='rId22' Target='slides/slide17.xml' Type='http://schemas.openxmlformats.org/officeDocument/2006/relationships/slide' />
  <Relationship Id='rId23' Target='slides/slide18.xml' Type='http://schemas.openxmlformats.org/officeDocument/2006/relationships/slide' />
  <Relationship Id='rId24' Target='slides/slide19.xml' Type='http://schemas.openxmlformats.org/officeDocument/2006/relationships/slide' />
  <Relationship Id='rId25' Target='slides/slide20.xml' Type='http://schemas.openxmlformats.org/officeDocument/2006/relationships/slide' />
  <Relationship Id='rId26' Target='slides/slide21.xml' Type='http://schemas.openxmlformats.org/officeDocument/2006/relationships/slide' />
  <Relationship Id='rId27' Target='slides/slide22.xml' Type='http://schemas.openxmlformats.org/officeDocument/2006/relationships/slide' />
  <Relationship Id='rId28' Target='slides/slide23.xml' Type='http://schemas.openxmlformats.org/officeDocument/2006/relationships/slide' />
  <Relationship Id='rId29' Target='slides/slide24.xml' Type='http://schemas.openxmlformats.org/officeDocument/2006/relationships/slide' />
  <Relationship Id='rId30' Target='slides/slide25.xml' Type='http://schemas.openxmlformats.org/officeDocument/2006/relationships/slide' />
  <Relationship Id='rId31' Target='slides/slide26.xml' Type='http://schemas.openxmlformats.org/officeDocument/2006/relationships/slide' />
  <Relationship Id='rId32' Target='slides/slide27.xml' Type='http://schemas.openxmlformats.org/officeDocument/2006/relationships/slide' />
  <Relationship Id='rId33' Target='slides/slide28.xml' Type='http://schemas.openxmlformats.org/officeDocument/2006/relationships/slide' />
  <Relationship Id='rId34' Target='slides/slide29.xml' Type='http://schemas.openxmlformats.org/officeDocument/2006/relationships/slide' />
  <Relationship Id='rId35' Target='slides/slide30.xml' Type='http://schemas.openxmlformats.org/officeDocument/2006/relationships/slide' />
  <Relationship Id='rId36' Target='slides/slide31.xml' Type='http://schemas.openxmlformats.org/officeDocument/2006/relationships/slide' />
  <Relationship Id='rId37' Target='slides/slide32.xml' Type='http://schemas.openxmlformats.org/officeDocument/2006/relationships/slide' />
  <Relationship Id='rId38' Target='slides/slide33.xml' Type='http://schemas.openxmlformats.org/officeDocument/2006/relationships/slide' />
  <Relationship Id='rId39' Target='slides/slide34.xml' Type='http://schemas.openxmlformats.org/officeDocument/2006/relationships/slide' />
  <Relationship Id='rId40' Target='slides/slide35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1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8' Target='../media/image12.png' Type='http://schemas.openxmlformats.org/officeDocument/2006/relationships/image' />
</Relationships>

</file>

<file path=ppt/slides/_rels/slide1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9' Target='../media/image13.png' Type='http://schemas.openxmlformats.org/officeDocument/2006/relationships/image' />
</Relationships>

</file>

<file path=ppt/slides/_rels/slide1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0' Target='../media/image14.png' Type='http://schemas.openxmlformats.org/officeDocument/2006/relationships/image' />
</Relationships>

</file>

<file path=ppt/slides/_rels/slide1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1' Target='../media/image15.png' Type='http://schemas.openxmlformats.org/officeDocument/2006/relationships/image' />
</Relationships>

</file>

<file path=ppt/slides/_rels/slide1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2' Target='../media/image16.png' Type='http://schemas.openxmlformats.org/officeDocument/2006/relationships/image' />
</Relationships>

</file>

<file path=ppt/slides/_rels/slide1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3' Target='../media/image17.png' Type='http://schemas.openxmlformats.org/officeDocument/2006/relationships/image' />
</Relationships>

</file>

<file path=ppt/slides/_rels/slide1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4' Target='../media/image18.png' Type='http://schemas.openxmlformats.org/officeDocument/2006/relationships/image' />
</Relationships>

</file>

<file path=ppt/slides/_rels/slide2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5' Target='../media/image19.png' Type='http://schemas.openxmlformats.org/officeDocument/2006/relationships/image' />
</Relationships>

</file>

<file path=ppt/slides/_rels/slide2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6' Target='../media/image20.png' Type='http://schemas.openxmlformats.org/officeDocument/2006/relationships/image' />
</Relationships>

</file>

<file path=ppt/slides/_rels/slide2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7' Target='../media/image21.png' Type='http://schemas.openxmlformats.org/officeDocument/2006/relationships/image' />
</Relationships>

</file>

<file path=ppt/slides/_rels/slide2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8' Target='../media/image22.png' Type='http://schemas.openxmlformats.org/officeDocument/2006/relationships/image' />
</Relationships>

</file>

<file path=ppt/slides/_rels/slide2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9' Target='../media/image23.png' Type='http://schemas.openxmlformats.org/officeDocument/2006/relationships/image' />
</Relationships>

</file>

<file path=ppt/slides/_rels/slide2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0' Target='../media/image24.png' Type='http://schemas.openxmlformats.org/officeDocument/2006/relationships/image' />
</Relationships>

</file>

<file path=ppt/slides/_rels/slide2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1' Target='../media/image25.png' Type='http://schemas.openxmlformats.org/officeDocument/2006/relationships/image' />
</Relationships>

</file>

<file path=ppt/slides/_rels/slide2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2' Target='../media/image26.png' Type='http://schemas.openxmlformats.org/officeDocument/2006/relationships/image' />
</Relationships>

</file>

<file path=ppt/slides/_rels/slide2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3' Target='../media/image27.png' Type='http://schemas.openxmlformats.org/officeDocument/2006/relationships/image' />
</Relationships>

</file>

<file path=ppt/slides/_rels/slide2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4' Target='../media/image28.png' Type='http://schemas.openxmlformats.org/officeDocument/2006/relationships/image' />
</Relationships>

</file>

<file path=ppt/slides/_rels/slide3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5' Target='../media/image29.png' Type='http://schemas.openxmlformats.org/officeDocument/2006/relationships/image' />
</Relationships>

</file>

<file path=ppt/slides/_rels/slide3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6' Target='../media/image30.png' Type='http://schemas.openxmlformats.org/officeDocument/2006/relationships/image' />
</Relationships>

</file>

<file path=ppt/slides/_rels/slide3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7' Target='../media/image31.png' Type='http://schemas.openxmlformats.org/officeDocument/2006/relationships/image' />
</Relationships>

</file>

<file path=ppt/slides/_rels/slide3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8' Target='../media/image32.png' Type='http://schemas.openxmlformats.org/officeDocument/2006/relationships/image' />
</Relationships>

</file>

<file path=ppt/slides/_rels/slide3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9' Target='../media/image33.png' Type='http://schemas.openxmlformats.org/officeDocument/2006/relationships/image' />
</Relationships>

</file>

<file path=ppt/slides/_rels/slide3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40' Target='../media/image34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1A4820DA-3650-439A-9C2F-286C7BB398B7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InnovaTech_Project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317663AB-A5D9-4659-A673-95BA4C3EF0F3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24-10-2025 16:31:20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 vs Profit by Month" id="2" name="slide2">
            <a:extLst>
              <a:ext uri="{FF2B5EF4-FFF2-40B4-BE49-F238E27FC236}">
                <a16:creationId xmlns:a16="http://schemas.microsoft.com/office/drawing/2014/main" id="{37CF4793-7C25-4F72-AC6E-FF0D678B7D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585" y="0"/>
            <a:ext cx="101788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 by Region" id="3" name="slide3">
            <a:extLst>
              <a:ext uri="{FF2B5EF4-FFF2-40B4-BE49-F238E27FC236}">
                <a16:creationId xmlns:a16="http://schemas.microsoft.com/office/drawing/2014/main" id="{01834279-86E1-4550-9E7E-65E055B0AB2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928" y="0"/>
            <a:ext cx="93621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 by Product" id="4" name="slide4">
            <a:extLst>
              <a:ext uri="{FF2B5EF4-FFF2-40B4-BE49-F238E27FC236}">
                <a16:creationId xmlns:a16="http://schemas.microsoft.com/office/drawing/2014/main" id="{94D82DB8-ABB6-4C2C-8641-0FB1481255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89" y="0"/>
            <a:ext cx="101734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tal Sales" id="5" name="slide5">
            <a:extLst>
              <a:ext uri="{FF2B5EF4-FFF2-40B4-BE49-F238E27FC236}">
                <a16:creationId xmlns:a16="http://schemas.microsoft.com/office/drawing/2014/main" id="{23F4514A-25AE-4846-A7D5-4F91700642F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500" y="271462"/>
            <a:ext cx="1143000" cy="631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tal Profit" id="6" name="slide6">
            <a:extLst>
              <a:ext uri="{FF2B5EF4-FFF2-40B4-BE49-F238E27FC236}">
                <a16:creationId xmlns:a16="http://schemas.microsoft.com/office/drawing/2014/main" id="{F54F4186-DA9F-4759-BB27-41681F96E38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500" y="271462"/>
            <a:ext cx="1143000" cy="631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owth %" id="7" name="slide7">
            <a:extLst>
              <a:ext uri="{FF2B5EF4-FFF2-40B4-BE49-F238E27FC236}">
                <a16:creationId xmlns:a16="http://schemas.microsoft.com/office/drawing/2014/main" id="{4D3B7EE6-FDAD-432C-83D9-4212602B8A5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118" y="0"/>
            <a:ext cx="14637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venue vs Expense" id="8" name="slide8">
            <a:extLst>
              <a:ext uri="{FF2B5EF4-FFF2-40B4-BE49-F238E27FC236}">
                <a16:creationId xmlns:a16="http://schemas.microsoft.com/office/drawing/2014/main" id="{355DB94C-74EE-40F5-A7A0-6142DD1B0A8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38" y="0"/>
            <a:ext cx="102383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ctual vs Budget" id="9" name="slide9">
            <a:extLst>
              <a:ext uri="{FF2B5EF4-FFF2-40B4-BE49-F238E27FC236}">
                <a16:creationId xmlns:a16="http://schemas.microsoft.com/office/drawing/2014/main" id="{89CB5DC5-3AA1-4019-B03D-7BE5CE48410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06" y="0"/>
            <a:ext cx="106601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fit by Dep &amp;amp; Reg" id="10" name="slide10">
            <a:extLst>
              <a:ext uri="{FF2B5EF4-FFF2-40B4-BE49-F238E27FC236}">
                <a16:creationId xmlns:a16="http://schemas.microsoft.com/office/drawing/2014/main" id="{E6EE6F57-5E19-4AFA-910D-3C06E4C9EF8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63" y="0"/>
            <a:ext cx="114768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fit Margin%" id="11" name="slide11">
            <a:extLst>
              <a:ext uri="{FF2B5EF4-FFF2-40B4-BE49-F238E27FC236}">
                <a16:creationId xmlns:a16="http://schemas.microsoft.com/office/drawing/2014/main" id="{3A6AA81F-EA37-480A-955B-9B9E78FBE8A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8664" y="0"/>
            <a:ext cx="5146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tal Revenue" id="12" name="slide12">
            <a:extLst>
              <a:ext uri="{FF2B5EF4-FFF2-40B4-BE49-F238E27FC236}">
                <a16:creationId xmlns:a16="http://schemas.microsoft.com/office/drawing/2014/main" id="{B376A09B-B91B-4D43-99D5-A31FAB27E30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250" y="747712"/>
            <a:ext cx="1333500" cy="53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Variance %" id="13" name="slide13">
            <a:extLst>
              <a:ext uri="{FF2B5EF4-FFF2-40B4-BE49-F238E27FC236}">
                <a16:creationId xmlns:a16="http://schemas.microsoft.com/office/drawing/2014/main" id="{A8135AB3-829F-4427-85F6-05A31E5FF76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590" y="0"/>
            <a:ext cx="8988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ustomer Value Distribution" id="14" name="slide14">
            <a:extLst>
              <a:ext uri="{FF2B5EF4-FFF2-40B4-BE49-F238E27FC236}">
                <a16:creationId xmlns:a16="http://schemas.microsoft.com/office/drawing/2014/main" id="{0CE9D942-8A8C-43AE-AC66-1290EEC10C5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89" y="0"/>
            <a:ext cx="101734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tisfication by Channel" id="15" name="slide15">
            <a:extLst>
              <a:ext uri="{FF2B5EF4-FFF2-40B4-BE49-F238E27FC236}">
                <a16:creationId xmlns:a16="http://schemas.microsoft.com/office/drawing/2014/main" id="{115E91B3-DD51-43F7-B414-D29AA1A198F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67" y="0"/>
            <a:ext cx="114714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p Time vs Satis Score" id="16" name="slide16">
            <a:extLst>
              <a:ext uri="{FF2B5EF4-FFF2-40B4-BE49-F238E27FC236}">
                <a16:creationId xmlns:a16="http://schemas.microsoft.com/office/drawing/2014/main" id="{5A32C7BE-AC5B-47F1-93CD-056DDAE07AF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172" y="0"/>
            <a:ext cx="113716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nthly Avg Satis Trend" id="17" name="slide17">
            <a:extLst>
              <a:ext uri="{FF2B5EF4-FFF2-40B4-BE49-F238E27FC236}">
                <a16:creationId xmlns:a16="http://schemas.microsoft.com/office/drawing/2014/main" id="{C7F9D8A5-74F6-41EE-B52C-1CF5DBAB6F6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06" y="0"/>
            <a:ext cx="106601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vg. Satisfication" id="18" name="slide18">
            <a:extLst>
              <a:ext uri="{FF2B5EF4-FFF2-40B4-BE49-F238E27FC236}">
                <a16:creationId xmlns:a16="http://schemas.microsoft.com/office/drawing/2014/main" id="{B4CEA402-B9FD-4269-A229-4EB1C778B3B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635" y="0"/>
            <a:ext cx="4587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olution Rate%" id="19" name="slide19">
            <a:extLst>
              <a:ext uri="{FF2B5EF4-FFF2-40B4-BE49-F238E27FC236}">
                <a16:creationId xmlns:a16="http://schemas.microsoft.com/office/drawing/2014/main" id="{D6EC1316-6CD6-45C3-AAAF-FAAFF273C17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065" y="0"/>
            <a:ext cx="10338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ctive customers" id="20" name="slide20">
            <a:extLst>
              <a:ext uri="{FF2B5EF4-FFF2-40B4-BE49-F238E27FC236}">
                <a16:creationId xmlns:a16="http://schemas.microsoft.com/office/drawing/2014/main" id="{E955D146-4088-41FB-82A9-3BF99564BA6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333" y="0"/>
            <a:ext cx="4233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sk Dur. by Department" id="21" name="slide21">
            <a:extLst>
              <a:ext uri="{FF2B5EF4-FFF2-40B4-BE49-F238E27FC236}">
                <a16:creationId xmlns:a16="http://schemas.microsoft.com/office/drawing/2014/main" id="{EB674495-EA3D-479B-BD17-F0F75A32219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89" y="0"/>
            <a:ext cx="101734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fficiency by Department" id="22" name="slide22">
            <a:extLst>
              <a:ext uri="{FF2B5EF4-FFF2-40B4-BE49-F238E27FC236}">
                <a16:creationId xmlns:a16="http://schemas.microsoft.com/office/drawing/2014/main" id="{B105349B-B111-4718-A0CF-4B03654023B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67" y="0"/>
            <a:ext cx="114714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sk Status Distribution" id="23" name="slide23">
            <a:extLst>
              <a:ext uri="{FF2B5EF4-FFF2-40B4-BE49-F238E27FC236}">
                <a16:creationId xmlns:a16="http://schemas.microsoft.com/office/drawing/2014/main" id="{AE61A0BA-FEF7-47BD-9A90-F6BA4CC808FD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67" y="0"/>
            <a:ext cx="114714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vg. Efficiency" id="24" name="slide24">
            <a:extLst>
              <a:ext uri="{FF2B5EF4-FFF2-40B4-BE49-F238E27FC236}">
                <a16:creationId xmlns:a16="http://schemas.microsoft.com/office/drawing/2014/main" id="{AEEAB098-27BA-4085-9388-710597C42C4B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708" y="0"/>
            <a:ext cx="10785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pletion %" id="25" name="slide25">
            <a:extLst>
              <a:ext uri="{FF2B5EF4-FFF2-40B4-BE49-F238E27FC236}">
                <a16:creationId xmlns:a16="http://schemas.microsoft.com/office/drawing/2014/main" id="{46DC85E8-94DB-41BD-ABC2-B42647C515C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526" y="0"/>
            <a:ext cx="7249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vg. Cost" id="26" name="slide26">
            <a:extLst>
              <a:ext uri="{FF2B5EF4-FFF2-40B4-BE49-F238E27FC236}">
                <a16:creationId xmlns:a16="http://schemas.microsoft.com/office/drawing/2014/main" id="{DC714F9C-06A7-4C51-B4ED-39EA5148062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844" y="0"/>
            <a:ext cx="10223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ecast Sales &amp;amp; Profit" id="27" name="slide27">
            <a:extLst>
              <a:ext uri="{FF2B5EF4-FFF2-40B4-BE49-F238E27FC236}">
                <a16:creationId xmlns:a16="http://schemas.microsoft.com/office/drawing/2014/main" id="{A0ED80A6-8B57-42CD-842C-F0548FA68C9A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583" y="0"/>
            <a:ext cx="10562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fit Trend by Month" id="28" name="slide28">
            <a:extLst>
              <a:ext uri="{FF2B5EF4-FFF2-40B4-BE49-F238E27FC236}">
                <a16:creationId xmlns:a16="http://schemas.microsoft.com/office/drawing/2014/main" id="{8AD7C016-EB74-4D05-8F43-D36A07CB6374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907" y="0"/>
            <a:ext cx="117021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jected Revenue" id="29" name="slide29">
            <a:extLst>
              <a:ext uri="{FF2B5EF4-FFF2-40B4-BE49-F238E27FC236}">
                <a16:creationId xmlns:a16="http://schemas.microsoft.com/office/drawing/2014/main" id="{2D911FC2-6C33-44DF-8747-9A4A51DFA3F5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500" y="628650"/>
            <a:ext cx="1143000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jected Profit Margin" id="30" name="slide30">
            <a:extLst>
              <a:ext uri="{FF2B5EF4-FFF2-40B4-BE49-F238E27FC236}">
                <a16:creationId xmlns:a16="http://schemas.microsoft.com/office/drawing/2014/main" id="{29806505-809E-43FA-B530-D2B3A7722F89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500" y="471487"/>
            <a:ext cx="1143000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 Dashboard" id="31" name="slide31">
            <a:extLst>
              <a:ext uri="{FF2B5EF4-FFF2-40B4-BE49-F238E27FC236}">
                <a16:creationId xmlns:a16="http://schemas.microsoft.com/office/drawing/2014/main" id="{A6B025EA-160A-424B-A520-2227FEFF8EDA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nance Dashboard" id="32" name="slide32">
            <a:extLst>
              <a:ext uri="{FF2B5EF4-FFF2-40B4-BE49-F238E27FC236}">
                <a16:creationId xmlns:a16="http://schemas.microsoft.com/office/drawing/2014/main" id="{806511BE-62FA-4DFA-9E63-7E4E38F2ACD1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ustomer Dashboard" id="33" name="slide33">
            <a:extLst>
              <a:ext uri="{FF2B5EF4-FFF2-40B4-BE49-F238E27FC236}">
                <a16:creationId xmlns:a16="http://schemas.microsoft.com/office/drawing/2014/main" id="{3DF72CC5-495F-4248-AB86-708450C04F8D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perational Dashboard" id="34" name="slide34">
            <a:extLst>
              <a:ext uri="{FF2B5EF4-FFF2-40B4-BE49-F238E27FC236}">
                <a16:creationId xmlns:a16="http://schemas.microsoft.com/office/drawing/2014/main" id="{A895B3AA-7B4A-47DC-A649-A30195DFA06A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rend Dashboard" id="35" name="slide35">
            <a:extLst>
              <a:ext uri="{FF2B5EF4-FFF2-40B4-BE49-F238E27FC236}">
                <a16:creationId xmlns:a16="http://schemas.microsoft.com/office/drawing/2014/main" id="{2338428B-F651-4EBD-BAF7-5FDFD6918CC5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35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2025-10-24T11:01:44Z</dcterms:created>
  <dcterms:modified xsi:type="dcterms:W3CDTF">2025-10-24T11:01:44Z</dcterms:modified>
</cp:coreProperties>
</file>